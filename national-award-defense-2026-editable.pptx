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jpeg"/><Relationship Id="rId8" Type="http://schemas.openxmlformats.org/officeDocument/2006/relationships/image" Target="../media/image-14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330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2000" cy="3302000"/>
          </a:xfrm>
          <a:prstGeom prst="rect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42900"/>
            <a:ext cx="39370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2000" y="2822956"/>
            <a:ext cx="5308865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年计算机学院研究生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762000" y="3309112"/>
            <a:ext cx="3912800" cy="60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国家奖学金答辩</a:t>
            </a:r>
            <a:endParaRPr lang="en-US" sz="4100" dirty="0"/>
          </a:p>
        </p:txBody>
      </p:sp>
      <p:sp>
        <p:nvSpPr>
          <p:cNvPr id="9" name="Shape 5"/>
          <p:cNvSpPr/>
          <p:nvPr/>
        </p:nvSpPr>
        <p:spPr>
          <a:xfrm>
            <a:off x="762000" y="4095750"/>
            <a:ext cx="5143500" cy="0"/>
          </a:xfrm>
          <a:prstGeom prst="line">
            <a:avLst/>
          </a:prstGeom>
          <a:noFill/>
          <a:ln w="38100">
            <a:solidFill>
              <a:srgbClr val="1675C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2000" y="4368546"/>
            <a:ext cx="763473" cy="41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孙烨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762000" y="4856226"/>
            <a:ext cx="581112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软件工程博士研究生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62000" y="5192776"/>
            <a:ext cx="171781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导师：时磊教授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2000" y="5522976"/>
            <a:ext cx="197303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学号：BY2306093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2000" y="6168644"/>
            <a:ext cx="1501861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308811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352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425700" y="332740"/>
            <a:ext cx="4188196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基本情况 · 科研成果 · 其他活动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766090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分钟主线：用三项代表性成果说明研究贡献，再以系统工程和国际交流收束。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8500" y="1460500"/>
            <a:ext cx="3175000" cy="22860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7900" y="1790700"/>
            <a:ext cx="609600" cy="609600"/>
          </a:xfrm>
          <a:prstGeom prst="ellipse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910" y="2022094"/>
            <a:ext cx="259581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79500" y="2559304"/>
            <a:ext cx="1199744" cy="324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基本情况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9500" y="3067812"/>
            <a:ext cx="196321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学习基础、研究主线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9500" y="3347212"/>
            <a:ext cx="145714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（主讲 1 页）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937000" y="2603500"/>
            <a:ext cx="476250" cy="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8950" y="2533650"/>
            <a:ext cx="114300" cy="6985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3250" y="2603500"/>
            <a:ext cx="-114300" cy="6985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08500" y="1460500"/>
            <a:ext cx="3175000" cy="22860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87900" y="1790700"/>
            <a:ext cx="609600" cy="609600"/>
          </a:xfrm>
          <a:prstGeom prst="ellipse">
            <a:avLst/>
          </a:prstGeom>
          <a:solidFill>
            <a:srgbClr val="0E9DB4"/>
          </a:solidFill>
          <a:ln w="12700">
            <a:solidFill>
              <a:srgbClr val="0E9DB4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2909" y="2022094"/>
            <a:ext cx="259581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889500" y="2559304"/>
            <a:ext cx="1199744" cy="324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科研成果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889500" y="3067812"/>
            <a:ext cx="195449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eXpath · RuleDep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89500" y="3347212"/>
            <a:ext cx="232095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GeneticPrism / Flow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47000" y="2603500"/>
            <a:ext cx="476250" cy="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08950" y="2533650"/>
            <a:ext cx="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3250" y="2603500"/>
            <a:ext cx="-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8500" y="1460500"/>
            <a:ext cx="3175000" cy="22860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597900" y="1790700"/>
            <a:ext cx="609600" cy="609600"/>
          </a:xfrm>
          <a:prstGeom prst="ellipse">
            <a:avLst/>
          </a:prstGeom>
          <a:solidFill>
            <a:srgbClr val="F39B45"/>
          </a:solidFill>
          <a:ln w="12700">
            <a:solidFill>
              <a:srgbClr val="F39B45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72909" y="2022094"/>
            <a:ext cx="259581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8699500" y="2559304"/>
            <a:ext cx="1199744" cy="324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其他活动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8699500" y="3067812"/>
            <a:ext cx="246056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MaterAgent · 国际交流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699500" y="3347212"/>
            <a:ext cx="184978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INSPIRE 为补充页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98500" y="4286250"/>
            <a:ext cx="10795000" cy="857250"/>
          </a:xfrm>
          <a:prstGeom prst="rect">
            <a:avLst>
              <a:gd name="adj" fmla="val 11852"/>
            </a:avLst>
          </a:prstGeom>
          <a:solidFill>
            <a:srgbClr val="F1F6FB"/>
          </a:solidFill>
          <a:ln w="12700">
            <a:solidFill>
              <a:srgbClr val="F1F6FB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0750" y="4591558"/>
            <a:ext cx="1036142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研究主线</a:t>
            </a:r>
            <a:endParaRPr lang="en-US" sz="1900" dirty="0"/>
          </a:p>
        </p:txBody>
      </p:sp>
      <p:sp>
        <p:nvSpPr>
          <p:cNvPr id="36" name="Text 33"/>
          <p:cNvSpPr/>
          <p:nvPr/>
        </p:nvSpPr>
        <p:spPr>
          <a:xfrm>
            <a:off x="2508250" y="4591558"/>
            <a:ext cx="6569141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结构化知识组织 → 规则推理 → 证据解释 → 智能系统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一、基本情况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245402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个人信息与学习成绩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2500"/>
            <a:ext cx="1714500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30500" y="982726"/>
            <a:ext cx="319022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730500" y="1331976"/>
            <a:ext cx="355342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软件工程博士研究生 · 2023 级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730500" y="1702562"/>
            <a:ext cx="439760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出生年月：1999 年 1 月 · 籍贯：湖北宜昌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30500" y="2020062"/>
            <a:ext cx="15269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导师：时磊教授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730500" y="2474976"/>
            <a:ext cx="981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730500" y="2813812"/>
            <a:ext cx="509563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知识图谱推理 · 可解释人工智能 · 学术图谱可视化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71500" y="3492500"/>
            <a:ext cx="2476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3900" y="3627628"/>
            <a:ext cx="2435479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3.87 / 4.00</a:t>
            </a:r>
            <a:endParaRPr lang="en-US" sz="2900" dirty="0"/>
          </a:p>
        </p:txBody>
      </p:sp>
      <p:sp>
        <p:nvSpPr>
          <p:cNvPr id="18" name="Text 14"/>
          <p:cNvSpPr/>
          <p:nvPr/>
        </p:nvSpPr>
        <p:spPr>
          <a:xfrm>
            <a:off x="723900" y="4071112"/>
            <a:ext cx="209409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GPA · 41 学分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238500" y="3492500"/>
            <a:ext cx="2476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90900" y="3627628"/>
            <a:ext cx="2435479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3.86 / 4.00</a:t>
            </a:r>
            <a:endParaRPr lang="en-US" sz="2900" dirty="0"/>
          </a:p>
        </p:txBody>
      </p:sp>
      <p:sp>
        <p:nvSpPr>
          <p:cNvPr id="21" name="Text 17"/>
          <p:cNvSpPr/>
          <p:nvPr/>
        </p:nvSpPr>
        <p:spPr>
          <a:xfrm>
            <a:off x="3390900" y="4071112"/>
            <a:ext cx="209409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 GPA · 31 学分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905500" y="3492500"/>
            <a:ext cx="2476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57900" y="3627628"/>
            <a:ext cx="1771258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143</a:t>
            </a:r>
            <a:endParaRPr lang="en-US" sz="2900" dirty="0"/>
          </a:p>
        </p:txBody>
      </p:sp>
      <p:sp>
        <p:nvSpPr>
          <p:cNvPr id="24" name="Text 20"/>
          <p:cNvSpPr/>
          <p:nvPr/>
        </p:nvSpPr>
        <p:spPr>
          <a:xfrm>
            <a:off x="6057900" y="4071112"/>
            <a:ext cx="174508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博士阶段专业排名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8572500" y="3492500"/>
            <a:ext cx="2476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724900" y="3627628"/>
            <a:ext cx="1059592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C94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年</a:t>
            </a:r>
            <a:endParaRPr lang="en-US" sz="2900" dirty="0"/>
          </a:p>
        </p:txBody>
      </p:sp>
      <p:sp>
        <p:nvSpPr>
          <p:cNvPr id="27" name="Text 23"/>
          <p:cNvSpPr/>
          <p:nvPr/>
        </p:nvSpPr>
        <p:spPr>
          <a:xfrm>
            <a:off x="8724900" y="4071112"/>
            <a:ext cx="19195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至今北航学习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71500" y="4667250"/>
            <a:ext cx="10922000" cy="635000"/>
          </a:xfrm>
          <a:prstGeom prst="rect">
            <a:avLst>
              <a:gd name="adj" fmla="val 16000"/>
            </a:avLst>
          </a:prstGeom>
          <a:solidFill>
            <a:srgbClr val="F1F6FB"/>
          </a:solidFill>
          <a:ln w="12700">
            <a:solidFill>
              <a:srgbClr val="F1F6FB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2000" y="475056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教育经历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2095500" y="4750562"/>
            <a:ext cx="1002549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 2017–2021 · 北航计算机学院   ｜   硕士 2021–2023 · 北航软件工程   ｜   博士 2023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2095500" y="5024882"/>
            <a:ext cx="23296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–至今 · 北航软件工程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762000" y="535381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代表课程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2095500" y="5353812"/>
            <a:ext cx="1020872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本科：数学分析 100 · 软件工程 98 · 深度学习 94     研究生：数据挖掘 100 · 算法设计与分析 9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2095500" y="5628132"/>
            <a:ext cx="785286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· 数理统计 94 · 计算机图形学 92 · 模式识别 93 · 软件工程综合实验 95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一、基本情况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1908683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荣誉奖项与能力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698032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科研奖励、竞赛经历、技术栈与英语能力共同支撑科研工作和国际交流。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1174750"/>
            <a:ext cx="4381500" cy="3810000"/>
          </a:xfrm>
          <a:prstGeom prst="rect">
            <a:avLst>
              <a:gd name="adj" fmla="val 3667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1374140"/>
            <a:ext cx="1363345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荣誉与奖励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2000" y="1977644"/>
            <a:ext cx="1854149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研究生一等奖学金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2000" y="2269744"/>
            <a:ext cx="3244761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 · 2023 · 2025 · 2026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62000" y="2813812"/>
            <a:ext cx="308879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实验室学术贡献奖 · 2026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3105912"/>
            <a:ext cx="347271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人工智能领域十大优秀团队 · 2025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3639312"/>
            <a:ext cx="303644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冯如杯科技竞赛三等奖 · 2020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3931412"/>
            <a:ext cx="325457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北航数学建模竞赛一等奖 · 2019</a:t>
            </a:r>
            <a:endParaRPr lang="en-US" sz="1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alphaModFix amt="98000"/>
          </a:blip>
          <a:stretch>
            <a:fillRect/>
          </a:stretch>
        </p:blipFill>
        <p:spPr>
          <a:xfrm>
            <a:off x="5207000" y="1270000"/>
            <a:ext cx="2349500" cy="285750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7874000" y="1333500"/>
            <a:ext cx="3619500" cy="1778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74000" y="3194812"/>
            <a:ext cx="232095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TOEFL 105 · GRE 327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207000" y="3810000"/>
            <a:ext cx="6286500" cy="2095500"/>
          </a:xfrm>
          <a:prstGeom prst="rect">
            <a:avLst>
              <a:gd name="adj" fmla="val 5455"/>
            </a:avLst>
          </a:prstGeom>
          <a:solidFill>
            <a:srgbClr val="E7F6F2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29250" y="3967226"/>
            <a:ext cx="122701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技术与语言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429250" y="4306062"/>
            <a:ext cx="297536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编程：Python / Java / C++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429250" y="4572762"/>
            <a:ext cx="316732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机器学习：PyTorch / sklearn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429250" y="4839462"/>
            <a:ext cx="236458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系统：Linux / Docker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429250" y="5106162"/>
            <a:ext cx="236458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后端：Flask / Django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382000" y="4306062"/>
            <a:ext cx="321967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前端：JavaScript / D3 / Vue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382000" y="4572762"/>
            <a:ext cx="307134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数据库：MySQL / PostgreSQL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382000" y="4839462"/>
            <a:ext cx="297536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英语：TOEFL 105 / GRE 327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382000" y="5106162"/>
            <a:ext cx="258272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认证：CCF CSP 前 8.79%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二、科研成果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1636014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论文成果总览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808845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共发表或录用论文 9 篇；第一作者发表 CCF-A 3 篇，另有 1 篇 A 类论文在投。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" y="1016000"/>
            <a:ext cx="2476500" cy="120650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3900" y="1267206"/>
            <a:ext cx="953796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篇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723900" y="1829562"/>
            <a:ext cx="15269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发表或录用论文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02000" y="1016000"/>
            <a:ext cx="2476500" cy="120650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54400" y="1267206"/>
            <a:ext cx="953796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篇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3454400" y="1829562"/>
            <a:ext cx="116920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一作 CCF-A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32500" y="1016000"/>
            <a:ext cx="2476500" cy="120650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4900" y="1267206"/>
            <a:ext cx="953796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6184900" y="182956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研究路线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763000" y="1016000"/>
            <a:ext cx="2476500" cy="120650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15400" y="1267206"/>
            <a:ext cx="953796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94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篇</a:t>
            </a:r>
            <a:endParaRPr lang="en-US" sz="3300" dirty="0"/>
          </a:p>
        </p:txBody>
      </p:sp>
      <p:sp>
        <p:nvSpPr>
          <p:cNvPr id="21" name="Text 18"/>
          <p:cNvSpPr/>
          <p:nvPr/>
        </p:nvSpPr>
        <p:spPr>
          <a:xfrm>
            <a:off x="8915400" y="1829562"/>
            <a:ext cx="160547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CCF-A 论文在投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4500" y="2444750"/>
            <a:ext cx="4127500" cy="2667000"/>
          </a:xfrm>
          <a:prstGeom prst="rect">
            <a:avLst>
              <a:gd name="adj" fmla="val 5238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8500" y="2458974"/>
            <a:ext cx="1956673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CCF-A 发表难度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698500" y="3004312"/>
            <a:ext cx="266997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VLDB：数据库领域顶级会议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8500" y="3309112"/>
            <a:ext cx="376065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TVCG：可视化与计算机图形学顶级期刊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8500" y="3613912"/>
            <a:ext cx="288811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AAAI：人工智能领域顶级会议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8500" y="3918712"/>
            <a:ext cx="288811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ICDE：数据工程领域顶级会议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8500" y="4401312"/>
            <a:ext cx="392643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四篇代表作围绕知识图谱推理与学术图谱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98500" y="467563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可视化。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873394" y="214706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知识图谱推理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317027" y="2147062"/>
            <a:ext cx="15269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学术图谱可视化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207246" y="2147062"/>
            <a:ext cx="123900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音乐生成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855066" y="2401062"/>
            <a:ext cx="146586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PVLDB / VLDB</a:t>
            </a:r>
            <a:endParaRPr lang="en-US" sz="16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2667000"/>
            <a:ext cx="1651000" cy="22860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43688" y="4972812"/>
            <a:ext cx="48862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7089938" y="2401062"/>
            <a:ext cx="48862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ICDE</a:t>
            </a:r>
            <a:endParaRPr lang="en-US" sz="16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750" y="2667000"/>
            <a:ext cx="1651000" cy="22860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089938" y="4972812"/>
            <a:ext cx="48862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8530799" y="2401062"/>
            <a:ext cx="109940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IEEE TVCG</a:t>
            </a:r>
            <a:endParaRPr lang="en-US" sz="16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2667000"/>
            <a:ext cx="1651000" cy="22860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836188" y="4972812"/>
            <a:ext cx="48862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10582438" y="2401062"/>
            <a:ext cx="48862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AAAI</a:t>
            </a:r>
            <a:endParaRPr lang="en-US" sz="16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0" y="2667000"/>
            <a:ext cx="1651000" cy="22860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0032738" y="4972812"/>
            <a:ext cx="158802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Revision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二、科研成果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4188196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eXpath：让链接预测给出路径证据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959794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面向嵌入式知识图谱链接预测，融合关系路径与本体闭合路径规则，生成更具语义依据的局部解释。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5600" y="1023112"/>
            <a:ext cx="1380359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 Sun et al. eXpath: Explaining Knowledge Graph Link Prediction with Ontological Closed Path Rules. PVLDB, 2025.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4500" y="1301750"/>
            <a:ext cx="5334000" cy="3365500"/>
          </a:xfrm>
          <a:prstGeom prst="rect">
            <a:avLst>
              <a:gd name="adj" fmla="val 4151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8500" y="1474724"/>
            <a:ext cx="159511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从预测到解释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749300" y="2082800"/>
            <a:ext cx="914400" cy="914400"/>
          </a:xfrm>
          <a:prstGeom prst="ellipse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0230" y="244551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候选链接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368550" y="2082800"/>
            <a:ext cx="914400" cy="914400"/>
          </a:xfrm>
          <a:prstGeom prst="ellipse">
            <a:avLst/>
          </a:prstGeom>
          <a:solidFill>
            <a:srgbClr val="0E9DB4"/>
          </a:solidFill>
          <a:ln w="12700">
            <a:solidFill>
              <a:srgbClr val="0E9DB4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89480" y="244551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987800" y="2082800"/>
            <a:ext cx="914400" cy="914400"/>
          </a:xfrm>
          <a:prstGeom prst="ellipse">
            <a:avLst/>
          </a:prstGeom>
          <a:solidFill>
            <a:srgbClr val="F39B45"/>
          </a:solidFill>
          <a:ln w="12700">
            <a:solidFill>
              <a:srgbClr val="F39B4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08729" y="244551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规则证据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663700" y="2540000"/>
            <a:ext cx="685800" cy="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35200" y="2470150"/>
            <a:ext cx="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49500" y="2540000"/>
            <a:ext cx="-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82950" y="2540000"/>
            <a:ext cx="685800" cy="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54450" y="2470150"/>
            <a:ext cx="114300" cy="6985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68750" y="2540000"/>
            <a:ext cx="-114300" cy="6985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7250" y="3321812"/>
            <a:ext cx="184978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 BFS ≤ 3 跳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7250" y="3690112"/>
            <a:ext cx="403113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Closed Path / Property Transition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7250" y="4058412"/>
            <a:ext cx="261762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按规则置信度筛选关键事实</a:t>
            </a:r>
            <a:endParaRPr lang="en-US" sz="16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270000"/>
            <a:ext cx="2984500" cy="176530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0" y="1270000"/>
            <a:ext cx="2476500" cy="26670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159500" y="4572000"/>
            <a:ext cx="2476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11900" y="4707128"/>
            <a:ext cx="1280999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20%</a:t>
            </a:r>
            <a:endParaRPr lang="en-US" sz="2900" dirty="0"/>
          </a:p>
        </p:txBody>
      </p:sp>
      <p:sp>
        <p:nvSpPr>
          <p:cNvPr id="32" name="Text 27"/>
          <p:cNvSpPr/>
          <p:nvPr/>
        </p:nvSpPr>
        <p:spPr>
          <a:xfrm>
            <a:off x="6311900" y="515061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解释质量提升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8890000" y="4572000"/>
            <a:ext cx="2476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042400" y="4707128"/>
            <a:ext cx="1502406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−61.4%</a:t>
            </a:r>
            <a:endParaRPr lang="en-US" sz="2900" dirty="0"/>
          </a:p>
        </p:txBody>
      </p:sp>
      <p:sp>
        <p:nvSpPr>
          <p:cNvPr id="35" name="Text 30"/>
          <p:cNvSpPr/>
          <p:nvPr/>
        </p:nvSpPr>
        <p:spPr>
          <a:xfrm>
            <a:off x="9042400" y="515061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解释耗时下降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444500" y="5080000"/>
            <a:ext cx="5207000" cy="330200"/>
          </a:xfrm>
          <a:prstGeom prst="rect">
            <a:avLst>
              <a:gd name="adj" fmla="val 50000"/>
            </a:avLst>
          </a:prstGeom>
          <a:solidFill>
            <a:srgbClr val="E6F1FA"/>
          </a:solidFill>
          <a:ln w="12700">
            <a:solidFill>
              <a:srgbClr val="E6F1FA">
                <a:alpha val="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79736" y="5137912"/>
            <a:ext cx="433652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第一作者 · PVLDB / VLDB 2025 · 已录用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二、科研成果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4613559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RuleDep：建模规则之间的互补与冗余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1057519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当多条规则共同支持一个候选实体时，独立加权会重复计算或忽略协同；RuleDep 用稀疏二阶依赖进行修正。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5600" y="1023112"/>
            <a:ext cx="1258203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 Sun et al. RuleDep: Modeling Complementarity and Redundancy in Rule Aggregation for KGC. ICDE, 2027.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4500" y="1333500"/>
            <a:ext cx="3873500" cy="2984500"/>
          </a:xfrm>
          <a:prstGeom prst="rect">
            <a:avLst>
              <a:gd name="adj" fmla="val 4681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1538224"/>
            <a:ext cx="186096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规则聚合的缺口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590941" y="2422144"/>
            <a:ext cx="723118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622941" y="2422144"/>
            <a:ext cx="723118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B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84200" y="2647950"/>
            <a:ext cx="736600" cy="736600"/>
          </a:xfrm>
          <a:prstGeom prst="ellipse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16200" y="2647950"/>
            <a:ext cx="736600" cy="736600"/>
          </a:xfrm>
          <a:prstGeom prst="ellipse">
            <a:avLst/>
          </a:prstGeom>
          <a:solidFill>
            <a:srgbClr val="F39B45"/>
          </a:solidFill>
          <a:ln w="12700">
            <a:solidFill>
              <a:srgbClr val="F39B4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4365" y="2921762"/>
            <a:ext cx="43627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66365" y="2921762"/>
            <a:ext cx="43627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20800" y="3016250"/>
            <a:ext cx="1250950" cy="0"/>
          </a:xfrm>
          <a:prstGeom prst="line">
            <a:avLst/>
          </a:prstGeom>
          <a:noFill/>
          <a:ln w="31750">
            <a:solidFill>
              <a:srgbClr val="5870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57450" y="2946400"/>
            <a:ext cx="114300" cy="69850"/>
          </a:xfrm>
          <a:prstGeom prst="line">
            <a:avLst/>
          </a:prstGeom>
          <a:noFill/>
          <a:ln w="31750">
            <a:solidFill>
              <a:srgbClr val="5870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71750" y="3016250"/>
            <a:ext cx="-114300" cy="69850"/>
          </a:xfrm>
          <a:prstGeom prst="line">
            <a:avLst/>
          </a:prstGeom>
          <a:noFill/>
          <a:ln w="31750">
            <a:solidFill>
              <a:srgbClr val="587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32230" y="268681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独立假设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6750" y="3671062"/>
            <a:ext cx="239948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互补：联合证据超出相加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6750" y="3956812"/>
            <a:ext cx="239948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冗余：联合证据存在重叠</a:t>
            </a:r>
            <a:endParaRPr lang="en-US" sz="16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0" y="1270000"/>
            <a:ext cx="3492500" cy="222250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0" y="1270000"/>
            <a:ext cx="3492500" cy="22225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635500" y="3556000"/>
            <a:ext cx="6858000" cy="11430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89500" y="3755644"/>
            <a:ext cx="1158843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两阶段训练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4889500" y="4159250"/>
            <a:ext cx="1397000" cy="330200"/>
          </a:xfrm>
          <a:prstGeom prst="rect">
            <a:avLst>
              <a:gd name="adj" fmla="val 50000"/>
            </a:avLst>
          </a:prstGeom>
          <a:solidFill>
            <a:srgbClr val="E6F1FA"/>
          </a:solidFill>
          <a:ln w="12700">
            <a:solidFill>
              <a:srgbClr val="E6F1FA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51729" y="421716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规则证据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350000" y="4324350"/>
            <a:ext cx="762000" cy="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97700" y="4254500"/>
            <a:ext cx="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112000" y="4324350"/>
            <a:ext cx="-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239000" y="4159250"/>
            <a:ext cx="1778000" cy="330200"/>
          </a:xfrm>
          <a:prstGeom prst="rect">
            <a:avLst>
              <a:gd name="adj" fmla="val 50000"/>
            </a:avLst>
          </a:prstGeom>
          <a:solidFill>
            <a:srgbClr val="E7F6F2"/>
          </a:solidFill>
          <a:ln w="12700">
            <a:solidFill>
              <a:srgbClr val="E7F6F2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473594" y="421716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稀疏依赖修正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9080500" y="4324350"/>
            <a:ext cx="762000" cy="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728200" y="4254500"/>
            <a:ext cx="114300" cy="6985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842500" y="4324350"/>
            <a:ext cx="-114300" cy="6985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9969500" y="4159250"/>
            <a:ext cx="1270000" cy="330200"/>
          </a:xfrm>
          <a:prstGeom prst="rect">
            <a:avLst>
              <a:gd name="adj" fmla="val 50000"/>
            </a:avLst>
          </a:prstGeom>
          <a:solidFill>
            <a:srgbClr val="FFF2E5"/>
          </a:solidFill>
          <a:ln w="12700">
            <a:solidFill>
              <a:srgbClr val="FFF2E5">
                <a:alpha val="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059162" y="4217162"/>
            <a:ext cx="109067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可解释预测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4635500" y="4857750"/>
            <a:ext cx="31750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787900" y="4992878"/>
            <a:ext cx="1107036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+3.7%</a:t>
            </a:r>
            <a:endParaRPr lang="en-US" sz="2900" dirty="0"/>
          </a:p>
        </p:txBody>
      </p:sp>
      <p:sp>
        <p:nvSpPr>
          <p:cNvPr id="43" name="Text 38"/>
          <p:cNvSpPr/>
          <p:nvPr/>
        </p:nvSpPr>
        <p:spPr>
          <a:xfrm>
            <a:off x="4787900" y="5436362"/>
            <a:ext cx="282703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MRR：0.382 → 0.396</a:t>
            </a:r>
            <a:endParaRPr lang="en-US" sz="1600" dirty="0"/>
          </a:p>
        </p:txBody>
      </p:sp>
      <p:sp>
        <p:nvSpPr>
          <p:cNvPr id="44" name="Shape 39"/>
          <p:cNvSpPr/>
          <p:nvPr/>
        </p:nvSpPr>
        <p:spPr>
          <a:xfrm>
            <a:off x="8001000" y="4857750"/>
            <a:ext cx="3492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153400" y="4992878"/>
            <a:ext cx="1059592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项</a:t>
            </a:r>
            <a:endParaRPr lang="en-US" sz="2900" dirty="0"/>
          </a:p>
        </p:txBody>
      </p:sp>
      <p:sp>
        <p:nvSpPr>
          <p:cNvPr id="46" name="Text 41"/>
          <p:cNvSpPr/>
          <p:nvPr/>
        </p:nvSpPr>
        <p:spPr>
          <a:xfrm>
            <a:off x="8153400" y="5436362"/>
            <a:ext cx="239948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比较指标最佳或并列最佳</a:t>
            </a:r>
            <a:endParaRPr lang="en-US" sz="1600" dirty="0"/>
          </a:p>
        </p:txBody>
      </p:sp>
      <p:sp>
        <p:nvSpPr>
          <p:cNvPr id="47" name="Shape 42"/>
          <p:cNvSpPr/>
          <p:nvPr/>
        </p:nvSpPr>
        <p:spPr>
          <a:xfrm>
            <a:off x="444500" y="5080000"/>
            <a:ext cx="4064000" cy="330200"/>
          </a:xfrm>
          <a:prstGeom prst="rect">
            <a:avLst>
              <a:gd name="adj" fmla="val 50000"/>
            </a:avLst>
          </a:prstGeom>
          <a:solidFill>
            <a:srgbClr val="E6F1FA"/>
          </a:solidFill>
          <a:ln w="12700">
            <a:solidFill>
              <a:srgbClr val="E6F1FA">
                <a:alpha val="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796859" y="5137912"/>
            <a:ext cx="335928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第一作者 · ICDE 2027 · 已录用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二、科研成果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319568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GeneticPrism：研究贡献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1008657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GeneticPrism 与 GeneticScroll 两种视图，把多主题研究演化与局部证据放进同一条探索路径。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5600" y="1023112"/>
            <a:ext cx="1453652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 Sun et al. GeneticPrism: Multifaceted Visualization of Citation-based Scholarly Research Evolution. IEEE TVCG, 2025.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206500"/>
            <a:ext cx="5397500" cy="317500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6500"/>
            <a:ext cx="5397500" cy="3175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4500" y="4572000"/>
            <a:ext cx="11049000" cy="1460500"/>
          </a:xfrm>
          <a:prstGeom prst="rect">
            <a:avLst>
              <a:gd name="adj" fmla="val 6087"/>
            </a:avLst>
          </a:prstGeom>
          <a:solidFill>
            <a:srgbClr val="F1F6FB"/>
          </a:solidFill>
          <a:ln w="12700">
            <a:solidFill>
              <a:srgbClr val="F1F6FB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6750" y="4771644"/>
            <a:ext cx="927075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研究贡献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2095500" y="4655312"/>
            <a:ext cx="473789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GeneticPrism：三维棱柱承载多主题全局概览，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095500" y="4934712"/>
            <a:ext cx="567151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顶视图表达主题间引用影响，侧视图表达单主题研究演化。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095500" y="5214112"/>
            <a:ext cx="725953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GeneticScroll：以时间轴、流图和层级图展示单主题细节与跨主题影响。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95500" y="5493512"/>
            <a:ext cx="807100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总体贡献：将全局结构、主题演化和局部证据统一到可交互的学术图谱探索流程中。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二、科研成果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440633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GeneticFlow：工程贡献与真实使用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978118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GeneticPrism 的研究方法转化为持续运行的在线系统，完成布局计算、浏览器交互和服务运维。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270000"/>
            <a:ext cx="6604000" cy="3714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66000" y="1270000"/>
            <a:ext cx="4127500" cy="3714750"/>
          </a:xfrm>
          <a:prstGeom prst="rect">
            <a:avLst>
              <a:gd name="adj" fmla="val 3761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20000" y="1501140"/>
            <a:ext cx="1090676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20000" y="2168144"/>
            <a:ext cx="2466018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 C++ / WASM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20000" y="2536444"/>
            <a:ext cx="2401123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服务与前端交互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20000" y="2904744"/>
            <a:ext cx="2085918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在线部署与持续运维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620000" y="3683000"/>
            <a:ext cx="1714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0" y="3818128"/>
            <a:ext cx="1549851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102,129</a:t>
            </a:r>
            <a:endParaRPr lang="en-US" sz="2900" dirty="0"/>
          </a:p>
        </p:txBody>
      </p:sp>
      <p:sp>
        <p:nvSpPr>
          <p:cNvPr id="18" name="Text 14"/>
          <p:cNvSpPr/>
          <p:nvPr/>
        </p:nvSpPr>
        <p:spPr>
          <a:xfrm>
            <a:off x="7772400" y="426161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累计服务用户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9525000" y="3683000"/>
            <a:ext cx="1714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77400" y="3818128"/>
            <a:ext cx="1549851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507,827</a:t>
            </a:r>
            <a:endParaRPr lang="en-US" sz="2900" dirty="0"/>
          </a:p>
        </p:txBody>
      </p:sp>
      <p:sp>
        <p:nvSpPr>
          <p:cNvPr id="21" name="Text 17"/>
          <p:cNvSpPr/>
          <p:nvPr/>
        </p:nvSpPr>
        <p:spPr>
          <a:xfrm>
            <a:off x="9677400" y="4261612"/>
            <a:ext cx="109067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累计访问量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620000" y="5671312"/>
            <a:ext cx="196321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在线系统与视频演示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44500" y="5175250"/>
            <a:ext cx="9207500" cy="444500"/>
          </a:xfrm>
          <a:prstGeom prst="rect">
            <a:avLst>
              <a:gd name="adj" fmla="val 17143"/>
            </a:avLst>
          </a:prstGeom>
          <a:solidFill>
            <a:srgbClr val="E7F6F2"/>
          </a:solidFill>
          <a:ln w="12700">
            <a:solidFill>
              <a:srgbClr val="E7F6F2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5000" y="5290312"/>
            <a:ext cx="90133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ACM Fellow Ion Stoica："This is interesting, especially the visualization"</a:t>
            </a:r>
            <a:endParaRPr lang="en-US" sz="1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0" y="5016500"/>
            <a:ext cx="698500" cy="6985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033000" y="5639562"/>
            <a:ext cx="233840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扫码访问 GeneticFlow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二、科研成果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5158897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INSPIRE：音符级结构化表示与表现力生成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917912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AAAI 2027 Revision。作为补充研究，展示异质序列表示、生成模型实现与可检验评测能力。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4500" y="1333500"/>
            <a:ext cx="5334000" cy="3238500"/>
          </a:xfrm>
          <a:prstGeom prst="rect">
            <a:avLst>
              <a:gd name="adj" fmla="val 4314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8500" y="1506474"/>
            <a:ext cx="2945643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→ Performance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698500" y="2508250"/>
            <a:ext cx="1397000" cy="635000"/>
          </a:xfrm>
          <a:prstGeom prst="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675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730" y="273126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符号乐谱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127250" y="2825750"/>
            <a:ext cx="285750" cy="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98700" y="2755900"/>
            <a:ext cx="114300" cy="6985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13000" y="2825750"/>
            <a:ext cx="-114300" cy="6985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44750" y="2508250"/>
            <a:ext cx="1397000" cy="635000"/>
          </a:xfrm>
          <a:prstGeom prst="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0E9DB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71736" y="2731262"/>
            <a:ext cx="114302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INR 六槽位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73500" y="2825750"/>
            <a:ext cx="285750" cy="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44950" y="2755900"/>
            <a:ext cx="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59250" y="2825750"/>
            <a:ext cx="-114300" cy="69850"/>
          </a:xfrm>
          <a:prstGeom prst="line">
            <a:avLst/>
          </a:prstGeom>
          <a:noFill/>
          <a:ln w="31750">
            <a:solidFill>
              <a:srgbClr val="0E9DB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91000" y="2508250"/>
            <a:ext cx="1397000" cy="635000"/>
          </a:xfrm>
          <a:prstGeom prst="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F39B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17643" y="2731262"/>
            <a:ext cx="134371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2000" y="3417062"/>
            <a:ext cx="277468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音高 · IOI · 音长 · 力度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3691382"/>
            <a:ext cx="167527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音乐信息 · 踏板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" y="3988562"/>
            <a:ext cx="486005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每个音符融合为一个 Transformer 时间步，缩短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426288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自回归序列。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096000" y="1333500"/>
            <a:ext cx="5397500" cy="3111500"/>
          </a:xfrm>
          <a:prstGeom prst="rect">
            <a:avLst>
              <a:gd name="adj" fmla="val 4490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0000" y="1506474"/>
            <a:ext cx="2126818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表示、预测与验证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6350000" y="1930400"/>
            <a:ext cx="279400" cy="279400"/>
          </a:xfrm>
          <a:prstGeom prst="ellipse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18580" y="1969262"/>
            <a:ext cx="14224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731000" y="1958594"/>
            <a:ext cx="1158843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音符级表示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731000" y="2274062"/>
            <a:ext cx="475534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六类属性融合为一个时间步，自回归序列由 K×N 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31000" y="2547112"/>
            <a:ext cx="111685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缩短至 N。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50000" y="2755900"/>
            <a:ext cx="279400" cy="279400"/>
          </a:xfrm>
          <a:prstGeom prst="ellipse">
            <a:avLst/>
          </a:prstGeom>
          <a:solidFill>
            <a:srgbClr val="0E9DB4"/>
          </a:solidFill>
          <a:ln w="12700">
            <a:solidFill>
              <a:srgbClr val="0E9DB4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18580" y="2794762"/>
            <a:ext cx="14224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731000" y="2784094"/>
            <a:ext cx="1390612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连续分布建模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6731000" y="3099562"/>
            <a:ext cx="501710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分属性输出预测头，保留时序等连续数值结构，并约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31000" y="337261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束预测范围。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50000" y="3581400"/>
            <a:ext cx="279400" cy="279400"/>
          </a:xfrm>
          <a:prstGeom prst="ellipse">
            <a:avLst/>
          </a:prstGeom>
          <a:solidFill>
            <a:srgbClr val="F39B45"/>
          </a:solidFill>
          <a:ln w="12700">
            <a:solidFill>
              <a:srgbClr val="F39B45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18580" y="3620262"/>
            <a:ext cx="14224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731000" y="3609594"/>
            <a:ext cx="1158843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多粒度评测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731000" y="3925062"/>
            <a:ext cx="487750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ASAP 数据上评测乐曲级分布与音符级属性，定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731000" y="4198112"/>
            <a:ext cx="15269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位改进和局限。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44500" y="4635500"/>
            <a:ext cx="33020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6900" y="4770628"/>
            <a:ext cx="1107036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13.8%</a:t>
            </a:r>
            <a:endParaRPr lang="en-US" sz="2900" dirty="0"/>
          </a:p>
        </p:txBody>
      </p:sp>
      <p:sp>
        <p:nvSpPr>
          <p:cNvPr id="47" name="Text 44"/>
          <p:cNvSpPr/>
          <p:nvPr/>
        </p:nvSpPr>
        <p:spPr>
          <a:xfrm>
            <a:off x="596900" y="5214112"/>
            <a:ext cx="316732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乐曲级 Human Relevance 改善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937000" y="4635500"/>
            <a:ext cx="4127500" cy="9525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89400" y="4770628"/>
            <a:ext cx="664222" cy="42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23×</a:t>
            </a:r>
            <a:endParaRPr lang="en-US" sz="2900" dirty="0"/>
          </a:p>
        </p:txBody>
      </p:sp>
      <p:sp>
        <p:nvSpPr>
          <p:cNvPr id="50" name="Text 47"/>
          <p:cNvSpPr/>
          <p:nvPr/>
        </p:nvSpPr>
        <p:spPr>
          <a:xfrm>
            <a:off x="4089400" y="5214112"/>
            <a:ext cx="350761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推理成本：137.3 → 6.0 GPU-min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55000" y="4667250"/>
            <a:ext cx="3238500" cy="330200"/>
          </a:xfrm>
          <a:prstGeom prst="rect">
            <a:avLst>
              <a:gd name="adj" fmla="val 50000"/>
            </a:avLst>
          </a:prstGeom>
          <a:solidFill>
            <a:srgbClr val="FFF2E5"/>
          </a:solidFill>
          <a:ln w="12700">
            <a:solidFill>
              <a:srgbClr val="FFF2E5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05045" y="4725162"/>
            <a:ext cx="2338409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第一作者 · AAAI 2027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445500" y="5163312"/>
            <a:ext cx="221625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Revision · 尚未录用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三、其他活动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5137084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工程实践：从数据治理到 Agent Harness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8289137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将研究经验迁移到材料研发、数据治理和智能工具链，形成面向真实场景的系统能力。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6250" y="1333500"/>
            <a:ext cx="3492500" cy="3937000"/>
          </a:xfrm>
          <a:prstGeom prst="rect">
            <a:avLst>
              <a:gd name="adj" fmla="val 4364"/>
            </a:avLst>
          </a:prstGeom>
          <a:solidFill>
            <a:srgbClr val="FFFFFF"/>
          </a:solidFill>
          <a:ln w="31750">
            <a:solidFill>
              <a:srgbClr val="1675C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47800"/>
            <a:ext cx="3187700" cy="666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6250" y="2254250"/>
            <a:ext cx="3492500" cy="520700"/>
          </a:xfrm>
          <a:prstGeom prst="rect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4050" y="2422144"/>
            <a:ext cx="3012992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材料数据库与数字化研发平台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6750" y="2972562"/>
            <a:ext cx="218135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国家重点研发计划课题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6750" y="3245612"/>
            <a:ext cx="349016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主导多源材料知识图谱、本体与可视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6750" y="3518662"/>
            <a:ext cx="65440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化模块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6750" y="3791712"/>
            <a:ext cx="310624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10⁵ 级多模态材料数据库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66750" y="4730750"/>
            <a:ext cx="3111500" cy="0"/>
          </a:xfrm>
          <a:prstGeom prst="line">
            <a:avLst/>
          </a:prstGeom>
          <a:noFill/>
          <a:ln w="19050">
            <a:solidFill>
              <a:srgbClr val="C8DC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6750" y="487756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49750" y="1333500"/>
            <a:ext cx="3492500" cy="3937000"/>
          </a:xfrm>
          <a:prstGeom prst="rect">
            <a:avLst>
              <a:gd name="adj" fmla="val 4364"/>
            </a:avLst>
          </a:prstGeom>
          <a:solidFill>
            <a:srgbClr val="FFFFFF"/>
          </a:solidFill>
          <a:ln w="31750">
            <a:solidFill>
              <a:srgbClr val="0E9DB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150" y="1447800"/>
            <a:ext cx="3187700" cy="66675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349750" y="2254250"/>
            <a:ext cx="3492500" cy="520700"/>
          </a:xfrm>
          <a:prstGeom prst="rect">
            <a:avLst/>
          </a:prstGeom>
          <a:solidFill>
            <a:srgbClr val="0E9DB4"/>
          </a:solidFill>
          <a:ln w="12700">
            <a:solidFill>
              <a:srgbClr val="0E9DB4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27550" y="2422144"/>
            <a:ext cx="1390612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数据分类分级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4540250" y="2972562"/>
            <a:ext cx="235586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 LLM 实体识别工具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540250" y="3245612"/>
            <a:ext cx="301026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RAG 驱动的分类分级流程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540250" y="3518662"/>
            <a:ext cx="327202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支持敏感数据自动标注与动态调优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4540250" y="4730750"/>
            <a:ext cx="3111500" cy="0"/>
          </a:xfrm>
          <a:prstGeom prst="line">
            <a:avLst/>
          </a:prstGeom>
          <a:noFill/>
          <a:ln w="19050">
            <a:solidFill>
              <a:srgbClr val="C8DCE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40250" y="487756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治理流程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223250" y="1333500"/>
            <a:ext cx="3492500" cy="3937000"/>
          </a:xfrm>
          <a:prstGeom prst="rect">
            <a:avLst>
              <a:gd name="adj" fmla="val 4364"/>
            </a:avLst>
          </a:prstGeom>
          <a:solidFill>
            <a:srgbClr val="FFFFFF"/>
          </a:solidFill>
          <a:ln w="31750">
            <a:solidFill>
              <a:srgbClr val="F39B45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0" y="1447800"/>
            <a:ext cx="3187700" cy="66675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223250" y="2254250"/>
            <a:ext cx="3492500" cy="520700"/>
          </a:xfrm>
          <a:prstGeom prst="rect">
            <a:avLst/>
          </a:prstGeom>
          <a:solidFill>
            <a:srgbClr val="F39B45"/>
          </a:solidFill>
          <a:ln w="12700">
            <a:solidFill>
              <a:srgbClr val="F39B45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401050" y="2422144"/>
            <a:ext cx="261435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MaterAgent · 工程实践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8413750" y="2972562"/>
            <a:ext cx="301899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新材智脑 / MaterBrain 合作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413750" y="3245612"/>
            <a:ext cx="323712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材料研发全流程 Agent Harness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8413750" y="3518662"/>
            <a:ext cx="2853208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 Browser MCP 等工具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8413750" y="4730750"/>
            <a:ext cx="3111500" cy="0"/>
          </a:xfrm>
          <a:prstGeom prst="line">
            <a:avLst/>
          </a:prstGeom>
          <a:noFill/>
          <a:ln w="19050">
            <a:solidFill>
              <a:srgbClr val="C8DCE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413750" y="4877562"/>
            <a:ext cx="158802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476250" y="5397500"/>
            <a:ext cx="11239500" cy="266700"/>
          </a:xfrm>
          <a:prstGeom prst="rect">
            <a:avLst>
              <a:gd name="adj" fmla="val 38095"/>
            </a:avLst>
          </a:prstGeom>
          <a:solidFill>
            <a:srgbClr val="E7F6F2"/>
          </a:solidFill>
          <a:ln w="12700">
            <a:solidFill>
              <a:srgbClr val="E7F6F2">
                <a:alpha val="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98500" y="5404612"/>
            <a:ext cx="98160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共同能力：把复杂科研任务拆解为数据、模型、工具、交互和运维环节，形成可复用的系统工程方法。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三、其他活动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4362704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实验室工作：把科研组织成长期能力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850727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围绕国家项目、平台建设、合作申请和实验室基础设施，承担科研组织与工程支撑工作。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4500" y="1365250"/>
            <a:ext cx="3524250" cy="3746500"/>
          </a:xfrm>
          <a:prstGeom prst="rect">
            <a:avLst>
              <a:gd name="adj" fmla="val 3964"/>
            </a:avLst>
          </a:prstGeom>
          <a:solidFill>
            <a:srgbClr val="FFFFFF"/>
          </a:solidFill>
          <a:ln w="31750">
            <a:solidFill>
              <a:srgbClr val="1675C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492250"/>
            <a:ext cx="3206750" cy="7302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4500" y="2349500"/>
            <a:ext cx="3524250" cy="520700"/>
          </a:xfrm>
          <a:prstGeom prst="rect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2300" y="2517394"/>
            <a:ext cx="1622381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国家项目与平台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35000" y="3067812"/>
            <a:ext cx="332438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国家重点研发课题（XXX）课题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5000" y="3347212"/>
            <a:ext cx="43627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5000" y="3626612"/>
            <a:ext cx="33941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参与课题申请、年度验收、中期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5000" y="3906012"/>
            <a:ext cx="15269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验收与平台开发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35000" y="4185412"/>
            <a:ext cx="33941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协助老师及合作人申请取得国家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35000" y="4464812"/>
            <a:ext cx="15269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技术发明一等奖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49750" y="1365250"/>
            <a:ext cx="3524250" cy="3746500"/>
          </a:xfrm>
          <a:prstGeom prst="rect">
            <a:avLst>
              <a:gd name="adj" fmla="val 3964"/>
            </a:avLst>
          </a:prstGeom>
          <a:solidFill>
            <a:srgbClr val="FFFFFF"/>
          </a:solidFill>
          <a:ln w="31750">
            <a:solidFill>
              <a:srgbClr val="0E9DB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1492250"/>
            <a:ext cx="3206750" cy="73025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349750" y="2349500"/>
            <a:ext cx="3524250" cy="520700"/>
          </a:xfrm>
          <a:prstGeom prst="rect">
            <a:avLst/>
          </a:prstGeom>
          <a:solidFill>
            <a:srgbClr val="0E9DB4"/>
          </a:solidFill>
          <a:ln w="12700">
            <a:solidFill>
              <a:srgbClr val="0E9DB4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27550" y="2517394"/>
            <a:ext cx="2085918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项目申请与产业合作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4540250" y="3067812"/>
            <a:ext cx="33941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协助完成两个面上项目成功申请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540250" y="3347212"/>
            <a:ext cx="33941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面向全学科学者的异质学术脉络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540250" y="3626612"/>
            <a:ext cx="109067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可视化分析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540250" y="3906012"/>
            <a:ext cx="329820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促成上奇科技产业-区域可视化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540250" y="4185412"/>
            <a:ext cx="43627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4540250" y="4464812"/>
            <a:ext cx="33941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杭州人工智能创新创业大赛特等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4540250" y="4744212"/>
            <a:ext cx="21813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255000" y="1365250"/>
            <a:ext cx="3524250" cy="3746500"/>
          </a:xfrm>
          <a:prstGeom prst="rect">
            <a:avLst>
              <a:gd name="adj" fmla="val 3964"/>
            </a:avLst>
          </a:prstGeom>
          <a:solidFill>
            <a:srgbClr val="FFFFFF"/>
          </a:solidFill>
          <a:ln w="31750">
            <a:solidFill>
              <a:srgbClr val="F39B4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750" y="1492250"/>
            <a:ext cx="3206750" cy="73025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8255000" y="2349500"/>
            <a:ext cx="3524250" cy="520700"/>
          </a:xfrm>
          <a:prstGeom prst="rect">
            <a:avLst/>
          </a:prstGeom>
          <a:solidFill>
            <a:srgbClr val="F39B45"/>
          </a:solidFill>
          <a:ln w="12700">
            <a:solidFill>
              <a:srgbClr val="F39B45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432800" y="2517394"/>
            <a:ext cx="1158843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实验室运行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8445500" y="3067812"/>
            <a:ext cx="252164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辅导学弟开展科研工作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8445500" y="3347212"/>
            <a:ext cx="332438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维护实验室 3 台服务器与云服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8445500" y="3626612"/>
            <a:ext cx="43627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务器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8445500" y="3906012"/>
            <a:ext cx="339418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持续支撑数据、代码、部署与共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8445500" y="4185412"/>
            <a:ext cx="65440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享环境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三、其他活动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3817366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国际学术会议：在现场展示研究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676219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围绕知识图谱推理与学术图谱可视化，参加国际会议并进行公开报告。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4500" y="1428750"/>
            <a:ext cx="3524250" cy="330200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" y="1587500"/>
            <a:ext cx="3270250" cy="1746250"/>
          </a:xfrm>
          <a:prstGeom prst="rect">
            <a:avLst>
              <a:gd name="adj" fmla="val 4364"/>
            </a:avLst>
          </a:prstGeom>
          <a:solidFill>
            <a:srgbClr val="E6F1FA"/>
          </a:solidFill>
          <a:ln w="19050">
            <a:solidFill>
              <a:srgbClr val="F39B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45985" y="2347976"/>
            <a:ext cx="172763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 2023 图片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18996" y="2656586"/>
            <a:ext cx="981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预留位置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2300" y="3517392"/>
            <a:ext cx="1129940" cy="272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 2023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22300" y="3925062"/>
            <a:ext cx="349016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“Applied” is Fifteen Ye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300" y="4217162"/>
            <a:ext cx="280958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ars of VAST Conference?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2300" y="4509262"/>
            <a:ext cx="282703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IEEE VIS 2023 · 第四作者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2300" y="4572000"/>
            <a:ext cx="1079500" cy="330200"/>
          </a:xfrm>
          <a:prstGeom prst="rect">
            <a:avLst>
              <a:gd name="adj" fmla="val 50000"/>
            </a:avLst>
          </a:prstGeom>
          <a:solidFill>
            <a:srgbClr val="E6F1FA"/>
          </a:solidFill>
          <a:ln w="12700">
            <a:solidFill>
              <a:srgbClr val="E6F1F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5780" y="462991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公开报告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49750" y="1428750"/>
            <a:ext cx="3524250" cy="330200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1587500"/>
            <a:ext cx="3270250" cy="17462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27550" y="3517392"/>
            <a:ext cx="2542366" cy="272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VLDB 2025 · London</a:t>
            </a:r>
            <a:endParaRPr lang="en-US" sz="1850" dirty="0"/>
          </a:p>
        </p:txBody>
      </p:sp>
      <p:sp>
        <p:nvSpPr>
          <p:cNvPr id="23" name="Text 19"/>
          <p:cNvSpPr/>
          <p:nvPr/>
        </p:nvSpPr>
        <p:spPr>
          <a:xfrm>
            <a:off x="4527550" y="3925062"/>
            <a:ext cx="129136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eXpath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27550" y="4217162"/>
            <a:ext cx="3053893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知识图谱链接预测的结构化解释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527550" y="4572000"/>
            <a:ext cx="1079500" cy="330200"/>
          </a:xfrm>
          <a:prstGeom prst="rect">
            <a:avLst>
              <a:gd name="adj" fmla="val 50000"/>
            </a:avLst>
          </a:prstGeom>
          <a:solidFill>
            <a:srgbClr val="E6F1FA"/>
          </a:solidFill>
          <a:ln w="12700">
            <a:solidFill>
              <a:srgbClr val="E6F1FA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31029" y="4629912"/>
            <a:ext cx="87254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同行交流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255000" y="1428750"/>
            <a:ext cx="3524250" cy="330200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CE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587500"/>
            <a:ext cx="3270250" cy="174625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32800" y="3517392"/>
            <a:ext cx="2683608" cy="272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 2025 · Linköping</a:t>
            </a:r>
            <a:endParaRPr lang="en-US" sz="1850" dirty="0"/>
          </a:p>
        </p:txBody>
      </p:sp>
      <p:sp>
        <p:nvSpPr>
          <p:cNvPr id="30" name="Text 25"/>
          <p:cNvSpPr/>
          <p:nvPr/>
        </p:nvSpPr>
        <p:spPr>
          <a:xfrm>
            <a:off x="8432800" y="3925062"/>
            <a:ext cx="202429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GeneticPrism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432800" y="4217162"/>
            <a:ext cx="261762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学术研究演化与图绘制交流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432800" y="4572000"/>
            <a:ext cx="1079500" cy="330200"/>
          </a:xfrm>
          <a:prstGeom prst="rect">
            <a:avLst>
              <a:gd name="adj" fmla="val 50000"/>
            </a:avLst>
          </a:prstGeom>
          <a:solidFill>
            <a:srgbClr val="FFF2E5"/>
          </a:solidFill>
          <a:ln w="12700">
            <a:solidFill>
              <a:srgbClr val="FFF2E5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427212" y="4629912"/>
            <a:ext cx="109067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访问与合作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444500" y="5048250"/>
            <a:ext cx="11239500" cy="381000"/>
          </a:xfrm>
          <a:prstGeom prst="rect">
            <a:avLst>
              <a:gd name="adj" fmla="val 23333"/>
            </a:avLst>
          </a:prstGeom>
          <a:solidFill>
            <a:srgbClr val="F1F6FB"/>
          </a:solidFill>
          <a:ln w="12700">
            <a:solidFill>
              <a:srgbClr val="F1F6FB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66750" y="5131562"/>
            <a:ext cx="902207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交流成果：公开展示代表性研究 · 获取国际同行反馈 · 连接可视化与知识图谱研究合作网络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139700"/>
            <a:ext cx="4318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30276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三、其他活动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844800" y="304800"/>
            <a:ext cx="12700" cy="304800"/>
          </a:xfrm>
          <a:prstGeom prst="rect">
            <a:avLst/>
          </a:prstGeom>
          <a:solidFill>
            <a:srgbClr val="263442"/>
          </a:solidFill>
          <a:ln w="12700">
            <a:solidFill>
              <a:srgbClr val="26344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300" y="332740"/>
            <a:ext cx="3544697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访问交流：连接国际合作研究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5500" y="750062"/>
            <a:ext cx="8341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CSC 资助赴慕尼黑工业大学交流访问，围绕知识图谱可视化与规则推理开展持续合作。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700" y="6395212"/>
            <a:ext cx="62124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北京航空航天大学计算机学院 · 2026 年研究生国家奖学金答辩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99988" y="6395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70000"/>
            <a:ext cx="2476500" cy="104775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1301750"/>
            <a:ext cx="920750" cy="12065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50" y="1301750"/>
            <a:ext cx="920750" cy="1206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63405" y="2464562"/>
            <a:ext cx="8550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Stephen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302327" y="2661412"/>
            <a:ext cx="9772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Kobourov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569905" y="2464562"/>
            <a:ext cx="855090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Maribel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630983" y="2661412"/>
            <a:ext cx="732934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Acosta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2984500"/>
            <a:ext cx="2698750" cy="26035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2984500"/>
            <a:ext cx="2603500" cy="26035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905500" y="1143000"/>
            <a:ext cx="5588000" cy="2984500"/>
          </a:xfrm>
          <a:prstGeom prst="rect">
            <a:avLst>
              <a:gd name="adj" fmla="val 4255"/>
            </a:avLst>
          </a:prstGeom>
          <a:solidFill>
            <a:srgbClr val="F1F6FB"/>
          </a:solidFill>
          <a:ln w="12700">
            <a:solidFill>
              <a:srgbClr val="C8DCEC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6159500" y="1353058"/>
            <a:ext cx="1036142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合作内容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6159500" y="1861312"/>
            <a:ext cx="537485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 Stephen Kobourov 教授开展知识图谱可视化与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6159500" y="2172462"/>
            <a:ext cx="13088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图绘制研究。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159500" y="2483612"/>
            <a:ext cx="546210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撰写 KGVis Survey 并投 Eurovis STAR paper。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159500" y="2794762"/>
            <a:ext cx="5348675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 Maribel Acosta 教授合作开展基于规则的知识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159500" y="3105912"/>
            <a:ext cx="1526946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图谱推理研究。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159500" y="3417062"/>
            <a:ext cx="431035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撰写 RuleDep 并被 ICDE 2027 录用。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5905500" y="4254500"/>
            <a:ext cx="5588000" cy="1174750"/>
          </a:xfrm>
          <a:prstGeom prst="rect">
            <a:avLst>
              <a:gd name="adj" fmla="val 9730"/>
            </a:avLst>
          </a:prstGeom>
          <a:solidFill>
            <a:srgbClr val="E7F6F2"/>
          </a:solidFill>
          <a:ln w="12700">
            <a:solidFill>
              <a:srgbClr val="C8DCEC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4250" y="4381500"/>
            <a:ext cx="2476500" cy="920750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6500" y="4381500"/>
            <a:ext cx="2476500" cy="920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C8"/>
          </a:solidFill>
          <a:ln w="12700">
            <a:solidFill>
              <a:srgbClr val="1675C8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698500"/>
            <a:ext cx="4000500" cy="425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6500" y="2029714"/>
            <a:ext cx="257672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结构化知识组织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4064000" y="2222500"/>
            <a:ext cx="889000" cy="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838700" y="1517650"/>
            <a:ext cx="114300" cy="6985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53000" y="1587500"/>
            <a:ext cx="-114300" cy="69850"/>
          </a:xfrm>
          <a:prstGeom prst="line">
            <a:avLst/>
          </a:prstGeom>
          <a:noFill/>
          <a:ln w="31750">
            <a:solidFill>
              <a:srgbClr val="1675C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207000" y="1394714"/>
            <a:ext cx="33129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9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规则推理与证据解释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8413750" y="1587500"/>
            <a:ext cx="889000" cy="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88450" y="1517650"/>
            <a:ext cx="114300" cy="6985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02750" y="1587500"/>
            <a:ext cx="-114300" cy="69850"/>
          </a:xfrm>
          <a:prstGeom prst="line">
            <a:avLst/>
          </a:prstGeom>
          <a:noFill/>
          <a:ln w="31750">
            <a:solidFill>
              <a:srgbClr val="F39B4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556750" y="1394714"/>
            <a:ext cx="257672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可用的智能系统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4241851" y="3129788"/>
            <a:ext cx="3708298" cy="500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感谢各位老师指导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5114391" y="3776218"/>
            <a:ext cx="196321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恳请批评指正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049346" y="4983226"/>
            <a:ext cx="409330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8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孙烨 · 北京航空航天大学计算机学院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1299988" y="5760212"/>
            <a:ext cx="244311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7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北京航空航天大学计算机学院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年计算机学院研究生国家奖学金答辩（可编辑版）</dc:title>
  <dc:subject>2026 年研究生国家奖学金答辩</dc:subject>
  <dc:creator>孙烨</dc:creator>
  <cp:lastModifiedBy>孙烨</cp:lastModifiedBy>
  <cp:revision>1</cp:revision>
  <dcterms:created xsi:type="dcterms:W3CDTF">2026-10-07T04:57:22Z</dcterms:created>
  <dcterms:modified xsi:type="dcterms:W3CDTF">2026-10-07T04:57:22Z</dcterms:modified>
</cp:coreProperties>
</file>